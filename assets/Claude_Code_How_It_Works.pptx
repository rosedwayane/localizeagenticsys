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16"/>
    <p:restoredTop sz="96301"/>
  </p:normalViewPr>
  <p:slideViewPr>
    <p:cSldViewPr snapToGrid="0" snapToObjects="1">
      <p:cViewPr>
        <p:scale>
          <a:sx n="131" d="100"/>
          <a:sy n="131" d="100"/>
        </p:scale>
        <p:origin x="-960" y="-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938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29529F8-CE2A-6AAE-C2A1-69BE66F02965}"/>
              </a:ext>
            </a:extLst>
          </p:cNvPr>
          <p:cNvGrpSpPr/>
          <p:nvPr/>
        </p:nvGrpSpPr>
        <p:grpSpPr>
          <a:xfrm>
            <a:off x="193637" y="259080"/>
            <a:ext cx="12161520" cy="6598920"/>
            <a:chOff x="0" y="164592"/>
            <a:chExt cx="12161520" cy="6598920"/>
          </a:xfrm>
        </p:grpSpPr>
        <p:sp>
          <p:nvSpPr>
            <p:cNvPr id="3" name="Text 1"/>
            <p:cNvSpPr/>
            <p:nvPr/>
          </p:nvSpPr>
          <p:spPr>
            <a:xfrm>
              <a:off x="457200" y="228600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Engineering</a:t>
              </a:r>
              <a:endParaRPr lang="en-US" sz="11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1160252" y="2286000"/>
              <a:ext cx="6355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Theory</a:t>
              </a:r>
              <a:endParaRPr lang="en-US" sz="11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0" y="164592"/>
              <a:ext cx="121615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32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How</a:t>
              </a:r>
              <a:r>
                <a:rPr lang="zh-TW" altLang="en-US" sz="32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 </a:t>
              </a:r>
              <a:r>
                <a:rPr lang="en-US" altLang="zh-TW" sz="32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Claude</a:t>
              </a:r>
              <a:r>
                <a:rPr lang="zh-TW" altLang="en-US" sz="32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 </a:t>
              </a:r>
              <a:r>
                <a:rPr lang="en-US" altLang="zh-TW" sz="32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Code</a:t>
              </a:r>
              <a:r>
                <a:rPr lang="zh-TW" altLang="en-US" sz="32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 </a:t>
              </a:r>
              <a:r>
                <a:rPr lang="en-US" altLang="zh-TW" sz="32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Works</a:t>
              </a:r>
              <a:endParaRPr lang="en-US" sz="3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0" y="767782"/>
              <a:ext cx="121615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 Claude </a:t>
              </a:r>
              <a:r>
                <a:rPr lang="en-US" sz="1300" dirty="0" err="1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Cowork</a:t>
              </a:r>
              <a:r>
                <a:rPr lang="en-US" sz="1300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, which brings Claude Code's agentic capabilities to Claude Desktop for knowledge work beyond coding.</a:t>
              </a:r>
              <a:endParaRPr lang="en-US" sz="13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57200" y="2697480"/>
              <a:ext cx="1325880" cy="658368"/>
            </a:xfrm>
            <a:prstGeom prst="roundRect">
              <a:avLst>
                <a:gd name="adj" fmla="val 11111"/>
              </a:avLst>
            </a:prstGeom>
            <a:solidFill>
              <a:srgbClr val="ECFEFF"/>
            </a:solidFill>
            <a:ln w="12700">
              <a:solidFill>
                <a:srgbClr val="ECFEFF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9" name="Text 27"/>
            <p:cNvSpPr/>
            <p:nvPr/>
          </p:nvSpPr>
          <p:spPr>
            <a:xfrm>
              <a:off x="960120" y="2697480"/>
              <a:ext cx="777240" cy="6583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E7490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Model</a:t>
              </a:r>
              <a:endParaRPr lang="en-US" sz="125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1920240" y="2697480"/>
              <a:ext cx="585216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2103120" y="2697480"/>
              <a:ext cx="55778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kern="0" spc="100" dirty="0">
                  <a:solidFill>
                    <a:srgbClr val="374151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Opus  /  Sonnet  /  Haiku  /  …</a:t>
              </a:r>
              <a:endParaRPr lang="en-US" sz="14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57200" y="3438144"/>
              <a:ext cx="1325880" cy="658368"/>
            </a:xfrm>
            <a:prstGeom prst="roundRect">
              <a:avLst>
                <a:gd name="adj" fmla="val 11111"/>
              </a:avLst>
            </a:prstGeom>
            <a:solidFill>
              <a:srgbClr val="EFF6FF"/>
            </a:solidFill>
            <a:ln w="12700">
              <a:solidFill>
                <a:srgbClr val="EFF6FF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34" name="Text 32"/>
            <p:cNvSpPr/>
            <p:nvPr/>
          </p:nvSpPr>
          <p:spPr>
            <a:xfrm>
              <a:off x="960120" y="3438144"/>
              <a:ext cx="777240" cy="6583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D4ED8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Tools</a:t>
              </a:r>
              <a:endParaRPr lang="en-US" sz="12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920240" y="3438144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37" name="Text 35"/>
            <p:cNvSpPr/>
            <p:nvPr/>
          </p:nvSpPr>
          <p:spPr>
            <a:xfrm>
              <a:off x="2011680" y="3749040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File operations</a:t>
              </a:r>
              <a:endParaRPr lang="en-US" sz="10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112618" y="3438144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40" name="Text 38"/>
            <p:cNvSpPr/>
            <p:nvPr/>
          </p:nvSpPr>
          <p:spPr>
            <a:xfrm>
              <a:off x="3204058" y="3749040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Search</a:t>
              </a:r>
              <a:endParaRPr lang="en-US" sz="10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304995" y="3438144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43" name="Text 41"/>
            <p:cNvSpPr/>
            <p:nvPr/>
          </p:nvSpPr>
          <p:spPr>
            <a:xfrm>
              <a:off x="4396435" y="3749040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Execution</a:t>
              </a:r>
              <a:endParaRPr lang="en-US" sz="10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5497373" y="3438144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46" name="Text 44"/>
            <p:cNvSpPr/>
            <p:nvPr/>
          </p:nvSpPr>
          <p:spPr>
            <a:xfrm>
              <a:off x="5588813" y="3749040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Web</a:t>
              </a:r>
              <a:endParaRPr lang="en-US" sz="10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689750" y="3438144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49" name="Text 47"/>
            <p:cNvSpPr/>
            <p:nvPr/>
          </p:nvSpPr>
          <p:spPr>
            <a:xfrm>
              <a:off x="6781190" y="3749040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Code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intelligence</a:t>
              </a:r>
              <a:endParaRPr lang="en-US" sz="105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457200" y="4178808"/>
              <a:ext cx="1325880" cy="658368"/>
            </a:xfrm>
            <a:prstGeom prst="roundRect">
              <a:avLst>
                <a:gd name="adj" fmla="val 11111"/>
              </a:avLst>
            </a:prstGeom>
            <a:solidFill>
              <a:srgbClr val="EEF2FF"/>
            </a:solidFill>
            <a:ln w="12700">
              <a:solidFill>
                <a:srgbClr val="EEF2FF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52" name="Text 50"/>
            <p:cNvSpPr/>
            <p:nvPr/>
          </p:nvSpPr>
          <p:spPr>
            <a:xfrm>
              <a:off x="960120" y="4178808"/>
              <a:ext cx="777240" cy="6583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4338C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Context</a:t>
              </a:r>
              <a:endParaRPr lang="en-US" sz="125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1918574" y="4178808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55" name="Text 53"/>
            <p:cNvSpPr/>
            <p:nvPr/>
          </p:nvSpPr>
          <p:spPr>
            <a:xfrm>
              <a:off x="2010014" y="4489704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Your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project</a:t>
              </a:r>
              <a:endParaRPr lang="en-US" sz="10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3112618" y="4178808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58" name="Text 56"/>
            <p:cNvSpPr/>
            <p:nvPr/>
          </p:nvSpPr>
          <p:spPr>
            <a:xfrm>
              <a:off x="3204058" y="4489704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Your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terminal</a:t>
              </a:r>
              <a:endParaRPr lang="en-US" sz="105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4304995" y="4178808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61" name="Text 59"/>
            <p:cNvSpPr/>
            <p:nvPr/>
          </p:nvSpPr>
          <p:spPr>
            <a:xfrm>
              <a:off x="4396435" y="4489704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zh-TW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Your</a:t>
              </a:r>
              <a:endParaRPr lang="en-US" sz="105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endParaRPr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Git state</a:t>
              </a:r>
              <a:endParaRPr lang="en-US" sz="105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5497373" y="4178808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64" name="Text 62"/>
            <p:cNvSpPr/>
            <p:nvPr/>
          </p:nvSpPr>
          <p:spPr>
            <a:xfrm>
              <a:off x="5588813" y="4489704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zh-TW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Auto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memory</a:t>
              </a:r>
              <a:endParaRPr lang="en-US" sz="105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689750" y="4178808"/>
              <a:ext cx="1082650" cy="658368"/>
            </a:xfrm>
            <a:prstGeom prst="roundRect">
              <a:avLst>
                <a:gd name="adj" fmla="val 11111"/>
              </a:avLst>
            </a:prstGeom>
            <a:solidFill>
              <a:srgbClr val="FEF3C7"/>
            </a:solidFill>
            <a:ln w="15875">
              <a:solidFill>
                <a:srgbClr val="F59E0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67" name="Text 65"/>
            <p:cNvSpPr/>
            <p:nvPr/>
          </p:nvSpPr>
          <p:spPr>
            <a:xfrm>
              <a:off x="6781190" y="4427278"/>
              <a:ext cx="89977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CLAUDE.md</a:t>
              </a:r>
              <a:endParaRPr lang="en-US" sz="105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457200" y="4919472"/>
              <a:ext cx="1325880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2700">
              <a:solidFill>
                <a:srgbClr val="F5F3FF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70" name="Text 68"/>
            <p:cNvSpPr/>
            <p:nvPr/>
          </p:nvSpPr>
          <p:spPr>
            <a:xfrm>
              <a:off x="960120" y="4919472"/>
              <a:ext cx="777240" cy="6583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6D28D9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Session</a:t>
              </a:r>
              <a:endParaRPr lang="en-US" sz="125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1920239" y="4928412"/>
              <a:ext cx="137880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73" name="Text 71"/>
            <p:cNvSpPr/>
            <p:nvPr/>
          </p:nvSpPr>
          <p:spPr>
            <a:xfrm>
              <a:off x="2054339" y="5325430"/>
              <a:ext cx="11224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zh-TW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Rewinding</a:t>
              </a:r>
              <a:endParaRPr lang="en-US" sz="105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3409301" y="4919472"/>
              <a:ext cx="137880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76" name="Text 74"/>
            <p:cNvSpPr/>
            <p:nvPr/>
          </p:nvSpPr>
          <p:spPr>
            <a:xfrm>
              <a:off x="3472995" y="5325430"/>
              <a:ext cx="1277321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altLang="zh-TW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Resume</a:t>
              </a:r>
              <a:endParaRPr lang="en-US" sz="105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6387424" y="4919472"/>
              <a:ext cx="137880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79" name="Text 77"/>
            <p:cNvSpPr/>
            <p:nvPr/>
          </p:nvSpPr>
          <p:spPr>
            <a:xfrm>
              <a:off x="6502701" y="5325430"/>
              <a:ext cx="115126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Across branches</a:t>
              </a:r>
              <a:endParaRPr lang="en-US" sz="105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457200" y="5660136"/>
              <a:ext cx="1325880" cy="658368"/>
            </a:xfrm>
            <a:prstGeom prst="roundRect">
              <a:avLst>
                <a:gd name="adj" fmla="val 11111"/>
              </a:avLst>
            </a:prstGeom>
            <a:solidFill>
              <a:srgbClr val="FDF2F8"/>
            </a:solidFill>
            <a:ln w="12700">
              <a:solidFill>
                <a:srgbClr val="FDF2F8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82" name="Text 80"/>
            <p:cNvSpPr/>
            <p:nvPr/>
          </p:nvSpPr>
          <p:spPr>
            <a:xfrm>
              <a:off x="960120" y="5660136"/>
              <a:ext cx="777240" cy="6583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BE185D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Control</a:t>
              </a:r>
              <a:endParaRPr lang="en-US" sz="1250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1920240" y="5660136"/>
              <a:ext cx="1877568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85" name="Text 83"/>
            <p:cNvSpPr/>
            <p:nvPr/>
          </p:nvSpPr>
          <p:spPr>
            <a:xfrm>
              <a:off x="2389724" y="5715000"/>
              <a:ext cx="1128367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Plan mode</a:t>
              </a:r>
              <a:endParaRPr lang="en-US" sz="11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2389724" y="6025896"/>
              <a:ext cx="1128367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Read only</a:t>
              </a:r>
              <a:endParaRPr lang="en-US" sz="850" dirty="0"/>
            </a:p>
          </p:txBody>
        </p:sp>
        <p:sp>
          <p:nvSpPr>
            <p:cNvPr id="87" name="Shape 85"/>
            <p:cNvSpPr/>
            <p:nvPr/>
          </p:nvSpPr>
          <p:spPr>
            <a:xfrm>
              <a:off x="3907536" y="5660136"/>
              <a:ext cx="1877568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89" name="Text 87"/>
            <p:cNvSpPr/>
            <p:nvPr/>
          </p:nvSpPr>
          <p:spPr>
            <a:xfrm>
              <a:off x="4370040" y="5715000"/>
              <a:ext cx="1190755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Edit mode</a:t>
              </a:r>
              <a:endParaRPr lang="en-US" sz="1100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4370040" y="6025896"/>
              <a:ext cx="1190755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Write files, not execute</a:t>
              </a:r>
              <a:endParaRPr lang="en-US" sz="850" dirty="0"/>
            </a:p>
          </p:txBody>
        </p:sp>
        <p:sp>
          <p:nvSpPr>
            <p:cNvPr id="91" name="Shape 89"/>
            <p:cNvSpPr/>
            <p:nvPr/>
          </p:nvSpPr>
          <p:spPr>
            <a:xfrm>
              <a:off x="5894832" y="5660136"/>
              <a:ext cx="1877568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93" name="Text 91"/>
            <p:cNvSpPr/>
            <p:nvPr/>
          </p:nvSpPr>
          <p:spPr>
            <a:xfrm>
              <a:off x="6357336" y="5715000"/>
              <a:ext cx="1177342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Auto mode</a:t>
              </a:r>
              <a:endParaRPr lang="en-US" sz="1100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6357336" y="6025896"/>
              <a:ext cx="1177342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Greenlight everything</a:t>
              </a:r>
              <a:endParaRPr lang="en-US" sz="850" dirty="0"/>
            </a:p>
          </p:txBody>
        </p:sp>
        <p:sp>
          <p:nvSpPr>
            <p:cNvPr id="95" name="Shape 93"/>
            <p:cNvSpPr/>
            <p:nvPr/>
          </p:nvSpPr>
          <p:spPr>
            <a:xfrm>
              <a:off x="8034080" y="2788920"/>
              <a:ext cx="0" cy="3438144"/>
            </a:xfrm>
            <a:prstGeom prst="line">
              <a:avLst/>
            </a:prstGeom>
            <a:noFill/>
            <a:ln w="12700">
              <a:solidFill>
                <a:srgbClr val="E5E7EB"/>
              </a:solidFill>
              <a:prstDash val="dash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97" name="Shape 95"/>
            <p:cNvSpPr/>
            <p:nvPr/>
          </p:nvSpPr>
          <p:spPr>
            <a:xfrm>
              <a:off x="8686800" y="2697480"/>
              <a:ext cx="3108960" cy="2788920"/>
            </a:xfrm>
            <a:prstGeom prst="roundRect">
              <a:avLst>
                <a:gd name="adj" fmla="val 3529"/>
              </a:avLst>
            </a:prstGeom>
            <a:solidFill>
              <a:srgbClr val="F0FD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99" name="Text 97"/>
            <p:cNvSpPr/>
            <p:nvPr/>
          </p:nvSpPr>
          <p:spPr>
            <a:xfrm>
              <a:off x="9379706" y="2785768"/>
              <a:ext cx="172314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F766E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Extensions</a:t>
              </a:r>
              <a:endParaRPr lang="en-US" sz="1600" dirty="0"/>
            </a:p>
          </p:txBody>
        </p:sp>
        <p:sp>
          <p:nvSpPr>
            <p:cNvPr id="100" name="Shape 98"/>
            <p:cNvSpPr/>
            <p:nvPr/>
          </p:nvSpPr>
          <p:spPr>
            <a:xfrm>
              <a:off x="8869680" y="3179058"/>
              <a:ext cx="1289304" cy="100584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102" name="Text 100"/>
            <p:cNvSpPr/>
            <p:nvPr/>
          </p:nvSpPr>
          <p:spPr>
            <a:xfrm>
              <a:off x="8869680" y="3819138"/>
              <a:ext cx="12893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Skills</a:t>
              </a:r>
              <a:endParaRPr lang="en-US" sz="1300" dirty="0"/>
            </a:p>
          </p:txBody>
        </p:sp>
        <p:sp>
          <p:nvSpPr>
            <p:cNvPr id="104" name="Shape 102"/>
            <p:cNvSpPr/>
            <p:nvPr/>
          </p:nvSpPr>
          <p:spPr>
            <a:xfrm>
              <a:off x="10323576" y="3179058"/>
              <a:ext cx="1289304" cy="100584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105" name="Shape 103"/>
            <p:cNvSpPr/>
            <p:nvPr/>
          </p:nvSpPr>
          <p:spPr>
            <a:xfrm>
              <a:off x="10776204" y="3361938"/>
              <a:ext cx="384048" cy="384048"/>
            </a:xfrm>
            <a:prstGeom prst="roundRect">
              <a:avLst>
                <a:gd name="adj" fmla="val 19048"/>
              </a:avLst>
            </a:prstGeom>
            <a:solidFill>
              <a:srgbClr val="0F766E"/>
            </a:solidFill>
            <a:ln w="12700">
              <a:solidFill>
                <a:srgbClr val="0F766E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06" name="Text 104"/>
            <p:cNvSpPr/>
            <p:nvPr/>
          </p:nvSpPr>
          <p:spPr>
            <a:xfrm>
              <a:off x="10323576" y="3819138"/>
              <a:ext cx="12893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13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MCP</a:t>
              </a:r>
              <a:endParaRPr lang="en-US" sz="13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8869680" y="4285168"/>
              <a:ext cx="1289304" cy="100584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109" name="Shape 107"/>
            <p:cNvSpPr/>
            <p:nvPr/>
          </p:nvSpPr>
          <p:spPr>
            <a:xfrm>
              <a:off x="9322308" y="4468048"/>
              <a:ext cx="384048" cy="384048"/>
            </a:xfrm>
            <a:prstGeom prst="roundRect">
              <a:avLst>
                <a:gd name="adj" fmla="val 19048"/>
              </a:avLst>
            </a:prstGeom>
            <a:solidFill>
              <a:srgbClr val="0F766E"/>
            </a:solidFill>
            <a:ln w="12700">
              <a:solidFill>
                <a:srgbClr val="0F766E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10" name="Text 108"/>
            <p:cNvSpPr/>
            <p:nvPr/>
          </p:nvSpPr>
          <p:spPr>
            <a:xfrm>
              <a:off x="8869680" y="4925248"/>
              <a:ext cx="12893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3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Subagent</a:t>
              </a:r>
              <a:endParaRPr lang="en-US" sz="1300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10323576" y="4285168"/>
              <a:ext cx="1289304" cy="996696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113" name="Shape 111"/>
            <p:cNvSpPr/>
            <p:nvPr/>
          </p:nvSpPr>
          <p:spPr>
            <a:xfrm>
              <a:off x="10776204" y="4468048"/>
              <a:ext cx="384048" cy="384048"/>
            </a:xfrm>
            <a:prstGeom prst="roundRect">
              <a:avLst>
                <a:gd name="adj" fmla="val 19048"/>
              </a:avLst>
            </a:prstGeom>
            <a:solidFill>
              <a:srgbClr val="0F766E"/>
            </a:solidFill>
            <a:ln w="12700">
              <a:solidFill>
                <a:srgbClr val="0F766E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14" name="Text 112"/>
            <p:cNvSpPr/>
            <p:nvPr/>
          </p:nvSpPr>
          <p:spPr>
            <a:xfrm>
              <a:off x="10323576" y="4925248"/>
              <a:ext cx="128930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Hooks</a:t>
              </a:r>
              <a:endParaRPr lang="en-US" sz="1300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498190" y="6478050"/>
              <a:ext cx="66320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TW" sz="11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User</a:t>
              </a:r>
              <a:endParaRPr lang="en-US" sz="1100" dirty="0"/>
            </a:p>
          </p:txBody>
        </p:sp>
        <p:sp>
          <p:nvSpPr>
            <p:cNvPr id="118" name="Text 116"/>
            <p:cNvSpPr/>
            <p:nvPr/>
          </p:nvSpPr>
          <p:spPr>
            <a:xfrm>
              <a:off x="10698480" y="6489192"/>
              <a:ext cx="1097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altLang="zh-TW" sz="11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Academic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11988" y="1301291"/>
              <a:ext cx="5776722" cy="1259025"/>
            </a:xfrm>
            <a:prstGeom prst="roundRect">
              <a:avLst>
                <a:gd name="adj" fmla="val 8276"/>
              </a:avLst>
            </a:prstGeom>
            <a:solidFill>
              <a:srgbClr val="F8FAFC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TW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186744" y="1206963"/>
              <a:ext cx="1554480" cy="329184"/>
            </a:xfrm>
            <a:prstGeom prst="roundRect">
              <a:avLst>
                <a:gd name="adj" fmla="val 50000"/>
              </a:avLst>
            </a:prstGeom>
            <a:solidFill>
              <a:srgbClr val="1F2937"/>
            </a:solidFill>
            <a:ln w="12700">
              <a:solidFill>
                <a:srgbClr val="1F2937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0" name="Text 8"/>
            <p:cNvSpPr/>
            <p:nvPr/>
          </p:nvSpPr>
          <p:spPr>
            <a:xfrm>
              <a:off x="4186744" y="1206963"/>
              <a:ext cx="15544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Agentic Loop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586592" y="1357250"/>
              <a:ext cx="2053721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1050" dirty="0"/>
                <a:t>You</a:t>
              </a:r>
              <a:r>
                <a:rPr lang="zh-TW" altLang="en-US" sz="1050" dirty="0"/>
                <a:t> </a:t>
              </a:r>
              <a:r>
                <a:rPr lang="en-US" altLang="zh-TW" sz="1050" dirty="0"/>
                <a:t>can</a:t>
              </a:r>
              <a:r>
                <a:rPr lang="zh-TW" altLang="en-US" sz="1050" dirty="0"/>
                <a:t> </a:t>
              </a:r>
              <a:r>
                <a:rPr lang="en-US" altLang="zh-TW" sz="1050" dirty="0"/>
                <a:t>interrupt</a:t>
              </a:r>
              <a:r>
                <a:rPr lang="zh-TW" altLang="en-US" sz="1050" dirty="0"/>
                <a:t> </a:t>
              </a:r>
              <a:r>
                <a:rPr lang="en-US" altLang="zh-TW" sz="1050" dirty="0"/>
                <a:t>/</a:t>
              </a:r>
              <a:r>
                <a:rPr lang="zh-TW" altLang="en-US" sz="1050" dirty="0"/>
                <a:t> </a:t>
              </a:r>
              <a:r>
                <a:rPr lang="en-US" altLang="zh-TW" sz="1050" dirty="0"/>
                <a:t>add</a:t>
              </a:r>
              <a:r>
                <a:rPr lang="zh-TW" altLang="en-US" sz="1050" dirty="0"/>
                <a:t> </a:t>
              </a:r>
              <a:r>
                <a:rPr lang="en-US" altLang="zh-TW" sz="1050" dirty="0"/>
                <a:t>context</a:t>
              </a:r>
              <a:endParaRPr lang="en-US" sz="10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902110" y="1677505"/>
              <a:ext cx="960120" cy="566928"/>
            </a:xfrm>
            <a:prstGeom prst="roundRect">
              <a:avLst>
                <a:gd name="adj" fmla="val 50000"/>
              </a:avLst>
            </a:prstGeom>
            <a:solidFill>
              <a:srgbClr val="EDE9FE"/>
            </a:solidFill>
            <a:ln w="12700">
              <a:solidFill>
                <a:srgbClr val="EDE9FE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3" name="Text 11"/>
            <p:cNvSpPr/>
            <p:nvPr/>
          </p:nvSpPr>
          <p:spPr>
            <a:xfrm>
              <a:off x="1902110" y="1677505"/>
              <a:ext cx="9601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B21B6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Prompt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923952" y="1960969"/>
              <a:ext cx="288036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5" name="Shape 13"/>
            <p:cNvSpPr/>
            <p:nvPr/>
          </p:nvSpPr>
          <p:spPr>
            <a:xfrm>
              <a:off x="3273710" y="1677505"/>
              <a:ext cx="1554480" cy="566928"/>
            </a:xfrm>
            <a:prstGeom prst="roundRect">
              <a:avLst>
                <a:gd name="adj" fmla="val 16129"/>
              </a:avLst>
            </a:prstGeom>
            <a:solidFill>
              <a:srgbClr val="DBEAFE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6" name="Text 14"/>
            <p:cNvSpPr/>
            <p:nvPr/>
          </p:nvSpPr>
          <p:spPr>
            <a:xfrm>
              <a:off x="3273710" y="1677505"/>
              <a:ext cx="15544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E40A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Gather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E40A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Context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889912" y="1960969"/>
              <a:ext cx="288036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8" name="Shape 16"/>
            <p:cNvSpPr/>
            <p:nvPr/>
          </p:nvSpPr>
          <p:spPr>
            <a:xfrm>
              <a:off x="5239670" y="1677505"/>
              <a:ext cx="1554480" cy="566928"/>
            </a:xfrm>
            <a:prstGeom prst="roundRect">
              <a:avLst>
                <a:gd name="adj" fmla="val 16129"/>
              </a:avLst>
            </a:prstGeom>
            <a:solidFill>
              <a:srgbClr val="FFEDD5"/>
            </a:solidFill>
            <a:ln w="12700">
              <a:solidFill>
                <a:srgbClr val="FFEDD5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19" name="Text 17"/>
            <p:cNvSpPr/>
            <p:nvPr/>
          </p:nvSpPr>
          <p:spPr>
            <a:xfrm>
              <a:off x="5239670" y="1677505"/>
              <a:ext cx="15544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9A3412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Take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9A3412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Action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855872" y="1960969"/>
              <a:ext cx="288036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1" name="Shape 19"/>
            <p:cNvSpPr/>
            <p:nvPr/>
          </p:nvSpPr>
          <p:spPr>
            <a:xfrm>
              <a:off x="7205630" y="1677505"/>
              <a:ext cx="1554480" cy="566928"/>
            </a:xfrm>
            <a:prstGeom prst="roundRect">
              <a:avLst>
                <a:gd name="adj" fmla="val 16129"/>
              </a:avLst>
            </a:prstGeom>
            <a:solidFill>
              <a:srgbClr val="DCFCE7"/>
            </a:solidFill>
            <a:ln w="12700">
              <a:solidFill>
                <a:srgbClr val="DCFCE7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2" name="Text 20"/>
            <p:cNvSpPr/>
            <p:nvPr/>
          </p:nvSpPr>
          <p:spPr>
            <a:xfrm>
              <a:off x="7205630" y="1677505"/>
              <a:ext cx="15544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6534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Verify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66534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Results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8821832" y="1960969"/>
              <a:ext cx="288036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4" name="Shape 22"/>
            <p:cNvSpPr/>
            <p:nvPr/>
          </p:nvSpPr>
          <p:spPr>
            <a:xfrm>
              <a:off x="9171590" y="1677505"/>
              <a:ext cx="960120" cy="56692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TW"/>
            </a:p>
          </p:txBody>
        </p:sp>
        <p:sp>
          <p:nvSpPr>
            <p:cNvPr id="25" name="Text 23"/>
            <p:cNvSpPr/>
            <p:nvPr/>
          </p:nvSpPr>
          <p:spPr>
            <a:xfrm>
              <a:off x="9171590" y="1677505"/>
              <a:ext cx="9601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59669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✓  Done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0322658" y="1624828"/>
              <a:ext cx="1118301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不只是控制流程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Beyond coding</a:t>
              </a:r>
              <a:endParaRPr lang="en-US" sz="1100" dirty="0"/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59D5B05B-1316-BAAC-21CB-DDA85A473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0275" y="1343026"/>
              <a:ext cx="284480" cy="284480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8B93D68E-C876-A4F3-526D-4E72A1049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5633" y="2881041"/>
              <a:ext cx="309600" cy="309600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58EC386F-E358-749B-96ED-26332E7E7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5633" y="3611880"/>
              <a:ext cx="309600" cy="309600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E6C0B3E9-211D-BE85-007A-8CBA586EA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5633" y="4353192"/>
              <a:ext cx="309600" cy="309600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3B9C9419-4ECA-AB0C-C17C-DE0ADF03D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5633" y="5093856"/>
              <a:ext cx="309600" cy="309600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1104800B-405C-2D9E-A37F-0B9ED2ECD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5633" y="5861304"/>
              <a:ext cx="309600" cy="309600"/>
            </a:xfrm>
            <a:prstGeom prst="rect">
              <a:avLst/>
            </a:prstGeom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40843F64-21E4-A592-C2CC-33A05188B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6596" y="2308694"/>
              <a:ext cx="228600" cy="215900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EDA01D98-5D5E-6A71-6A74-FC222D9D1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851990" y="2286000"/>
              <a:ext cx="228600" cy="228600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7717C16A-1455-4C6F-3DB8-9B65B97A6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8600" y="6460867"/>
              <a:ext cx="228600" cy="266700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BFA4AFAE-AC7F-1778-4C6F-46C303E1A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795760" y="6501384"/>
              <a:ext cx="279400" cy="241300"/>
            </a:xfrm>
            <a:prstGeom prst="rect">
              <a:avLst/>
            </a:prstGeom>
          </p:spPr>
        </p:pic>
        <p:sp>
          <p:nvSpPr>
            <p:cNvPr id="135" name="Text 100">
              <a:extLst>
                <a:ext uri="{FF2B5EF4-FFF2-40B4-BE49-F238E27FC236}">
                  <a16:creationId xmlns:a16="http://schemas.microsoft.com/office/drawing/2014/main" id="{E740E46F-0BE4-7273-A263-0EA8C0B51E89}"/>
                </a:ext>
              </a:extLst>
            </p:cNvPr>
            <p:cNvSpPr/>
            <p:nvPr/>
          </p:nvSpPr>
          <p:spPr>
            <a:xfrm>
              <a:off x="9521190" y="5655870"/>
              <a:ext cx="16047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1300" dirty="0"/>
                <a:t>Context</a:t>
              </a:r>
              <a:r>
                <a:rPr lang="zh-TW" altLang="en-US" sz="1300" dirty="0"/>
                <a:t> </a:t>
              </a:r>
              <a:r>
                <a:rPr lang="en-US" altLang="zh-TW" sz="1300" dirty="0"/>
                <a:t>Engineering</a:t>
              </a:r>
              <a:endParaRPr lang="en-US" sz="1300" dirty="0"/>
            </a:p>
          </p:txBody>
        </p:sp>
        <p:sp>
          <p:nvSpPr>
            <p:cNvPr id="136" name="Text 100">
              <a:extLst>
                <a:ext uri="{FF2B5EF4-FFF2-40B4-BE49-F238E27FC236}">
                  <a16:creationId xmlns:a16="http://schemas.microsoft.com/office/drawing/2014/main" id="{C7150626-D045-B4E2-2913-2D873BA47508}"/>
                </a:ext>
              </a:extLst>
            </p:cNvPr>
            <p:cNvSpPr/>
            <p:nvPr/>
          </p:nvSpPr>
          <p:spPr>
            <a:xfrm>
              <a:off x="9521190" y="6011522"/>
              <a:ext cx="16047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TW" sz="1300" dirty="0"/>
                <a:t>Harness</a:t>
              </a:r>
              <a:r>
                <a:rPr lang="zh-TW" altLang="en-US" sz="1300" dirty="0"/>
                <a:t> </a:t>
              </a:r>
              <a:r>
                <a:rPr lang="en-US" altLang="zh-TW" sz="1300" dirty="0"/>
                <a:t>Engineering</a:t>
              </a:r>
              <a:endParaRPr lang="en-US" sz="1300" dirty="0"/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AF71EB8E-D1E9-A326-390E-90BD866B2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225120" y="5654614"/>
              <a:ext cx="309171" cy="292608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A795A5EA-A362-099E-4EF5-4EC529B92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54033" y="6019312"/>
              <a:ext cx="251345" cy="288000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FF22880E-DC3E-AD7D-7A61-769BC20E2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174904" y="3247619"/>
              <a:ext cx="678856" cy="576000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0F57D6EF-8C90-A8B1-0782-910A12513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226332" y="4367916"/>
              <a:ext cx="576000" cy="576000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F4D62436-6626-4A6B-A5EA-C0CE6066F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640504" y="3283373"/>
              <a:ext cx="655448" cy="576000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CF891819-84BE-6031-357D-D28718325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707656" y="4386066"/>
              <a:ext cx="521144" cy="576000"/>
            </a:xfrm>
            <a:prstGeom prst="rect">
              <a:avLst/>
            </a:prstGeom>
          </p:spPr>
        </p:pic>
        <p:sp>
          <p:nvSpPr>
            <p:cNvPr id="148" name="Shape 72">
              <a:extLst>
                <a:ext uri="{FF2B5EF4-FFF2-40B4-BE49-F238E27FC236}">
                  <a16:creationId xmlns:a16="http://schemas.microsoft.com/office/drawing/2014/main" id="{8787A3F3-857A-1823-1182-5DA169AECA42}"/>
                </a:ext>
              </a:extLst>
            </p:cNvPr>
            <p:cNvSpPr/>
            <p:nvPr/>
          </p:nvSpPr>
          <p:spPr>
            <a:xfrm>
              <a:off x="4898363" y="4919472"/>
              <a:ext cx="1378800" cy="658368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  <a:effectLst>
              <a:outerShdw blurRad="76200" dist="12700" dir="54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TW"/>
            </a:p>
          </p:txBody>
        </p:sp>
        <p:sp>
          <p:nvSpPr>
            <p:cNvPr id="150" name="Text 74">
              <a:extLst>
                <a:ext uri="{FF2B5EF4-FFF2-40B4-BE49-F238E27FC236}">
                  <a16:creationId xmlns:a16="http://schemas.microsoft.com/office/drawing/2014/main" id="{5A74BE25-35EA-F2E5-7471-A7066186110A}"/>
                </a:ext>
              </a:extLst>
            </p:cNvPr>
            <p:cNvSpPr/>
            <p:nvPr/>
          </p:nvSpPr>
          <p:spPr>
            <a:xfrm>
              <a:off x="4952132" y="5325430"/>
              <a:ext cx="1277321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2937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Forking</a:t>
              </a:r>
              <a:endParaRPr lang="en-US" sz="1050" dirty="0"/>
            </a:p>
          </p:txBody>
        </p:sp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CBB1FDB5-6AFD-01DC-ACBF-BDE62A574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483640" y="5050920"/>
              <a:ext cx="252000" cy="242667"/>
            </a:xfrm>
            <a:prstGeom prst="rect">
              <a:avLst/>
            </a:prstGeom>
          </p:spPr>
        </p:pic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E98CDAFD-C367-C380-966E-9CD33A697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028982" y="5889261"/>
              <a:ext cx="252000" cy="200117"/>
            </a:xfrm>
            <a:prstGeom prst="rect">
              <a:avLst/>
            </a:prstGeom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A0450207-15C9-A728-1CB5-EACE0A2D7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012788" y="5889261"/>
              <a:ext cx="252000" cy="259875"/>
            </a:xfrm>
            <a:prstGeom prst="rect">
              <a:avLst/>
            </a:pr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6102009F-2E39-6190-9534-C22EE6157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003224" y="5889261"/>
              <a:ext cx="252000" cy="229765"/>
            </a:xfrm>
            <a:prstGeom prst="rect">
              <a:avLst/>
            </a:prstGeom>
          </p:spPr>
        </p:pic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ACFB55D6-848A-51CD-1F8C-C6A069915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974254" y="5050920"/>
              <a:ext cx="252000" cy="252000"/>
            </a:xfrm>
            <a:prstGeom prst="rect">
              <a:avLst/>
            </a:prstGeom>
          </p:spPr>
        </p:pic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9372E165-DC07-8855-B416-310680E2C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486456" y="5050920"/>
              <a:ext cx="252000" cy="268800"/>
            </a:xfrm>
            <a:prstGeom prst="rect">
              <a:avLst/>
            </a:prstGeom>
          </p:spPr>
        </p:pic>
        <p:pic>
          <p:nvPicPr>
            <p:cNvPr id="157" name="Picture 156">
              <a:extLst>
                <a:ext uri="{FF2B5EF4-FFF2-40B4-BE49-F238E27FC236}">
                  <a16:creationId xmlns:a16="http://schemas.microsoft.com/office/drawing/2014/main" id="{9A63CD78-3CEB-F793-4AA5-32AAEC972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979075" y="5050920"/>
              <a:ext cx="252000" cy="231000"/>
            </a:xfrm>
            <a:prstGeom prst="rect">
              <a:avLst/>
            </a:prstGeom>
          </p:spPr>
        </p:pic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0E17215D-0777-598C-453D-09DD3FCDC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339290" y="4235842"/>
              <a:ext cx="252000" cy="239400"/>
            </a:xfrm>
            <a:prstGeom prst="rect">
              <a:avLst/>
            </a:prstGeom>
          </p:spPr>
        </p:pic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7BD94CC7-34B2-7250-5CCC-3F538A01D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526159" y="4235842"/>
              <a:ext cx="252000" cy="221268"/>
            </a:xfrm>
            <a:prstGeom prst="rect">
              <a:avLst/>
            </a:prstGeom>
          </p:spPr>
        </p:pic>
        <p:pic>
          <p:nvPicPr>
            <p:cNvPr id="160" name="Picture 159">
              <a:extLst>
                <a:ext uri="{FF2B5EF4-FFF2-40B4-BE49-F238E27FC236}">
                  <a16:creationId xmlns:a16="http://schemas.microsoft.com/office/drawing/2014/main" id="{A858F2A9-3438-DE59-0381-782B5F842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724122" y="4235842"/>
              <a:ext cx="252000" cy="239707"/>
            </a:xfrm>
            <a:prstGeom prst="rect">
              <a:avLst/>
            </a:prstGeom>
          </p:spPr>
        </p:pic>
        <p:pic>
          <p:nvPicPr>
            <p:cNvPr id="161" name="Picture 160">
              <a:extLst>
                <a:ext uri="{FF2B5EF4-FFF2-40B4-BE49-F238E27FC236}">
                  <a16:creationId xmlns:a16="http://schemas.microsoft.com/office/drawing/2014/main" id="{89C047D8-B36F-168D-4E4D-CCBE23CD5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909110" y="4235842"/>
              <a:ext cx="252000" cy="258000"/>
            </a:xfrm>
            <a:prstGeom prst="rect">
              <a:avLst/>
            </a:prstGeom>
          </p:spPr>
        </p:pic>
        <p:sp>
          <p:nvSpPr>
            <p:cNvPr id="164" name="Shape 18">
              <a:extLst>
                <a:ext uri="{FF2B5EF4-FFF2-40B4-BE49-F238E27FC236}">
                  <a16:creationId xmlns:a16="http://schemas.microsoft.com/office/drawing/2014/main" id="{D34E1966-2B45-F4C6-C342-5C39F467DEE6}"/>
                </a:ext>
              </a:extLst>
            </p:cNvPr>
            <p:cNvSpPr/>
            <p:nvPr/>
          </p:nvSpPr>
          <p:spPr>
            <a:xfrm>
              <a:off x="7549965" y="4717789"/>
              <a:ext cx="0" cy="403365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TW"/>
            </a:p>
          </p:txBody>
        </p:sp>
        <p:cxnSp>
          <p:nvCxnSpPr>
            <p:cNvPr id="166" name="Elbow Connector 165">
              <a:extLst>
                <a:ext uri="{FF2B5EF4-FFF2-40B4-BE49-F238E27FC236}">
                  <a16:creationId xmlns:a16="http://schemas.microsoft.com/office/drawing/2014/main" id="{220279B2-6777-90D0-C73B-AE2E6A625F94}"/>
                </a:ext>
              </a:extLst>
            </p:cNvPr>
            <p:cNvCxnSpPr>
              <a:cxnSpLocks/>
              <a:stCxn id="97" idx="1"/>
              <a:endCxn id="47" idx="3"/>
            </p:cNvCxnSpPr>
            <p:nvPr/>
          </p:nvCxnSpPr>
          <p:spPr>
            <a:xfrm rot="10800000">
              <a:off x="7772400" y="3767328"/>
              <a:ext cx="914400" cy="324612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6473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114A2C31-B172-A85B-E944-829AC4A93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333899" y="3482058"/>
              <a:ext cx="252000" cy="280800"/>
            </a:xfrm>
            <a:prstGeom prst="rect">
              <a:avLst/>
            </a:prstGeom>
          </p:spPr>
        </p:pic>
        <p:pic>
          <p:nvPicPr>
            <p:cNvPr id="169" name="Picture 168">
              <a:extLst>
                <a:ext uri="{FF2B5EF4-FFF2-40B4-BE49-F238E27FC236}">
                  <a16:creationId xmlns:a16="http://schemas.microsoft.com/office/drawing/2014/main" id="{77927730-2F83-7D19-CBD3-B2DF8BFB0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529004" y="3498992"/>
              <a:ext cx="252000" cy="258632"/>
            </a:xfrm>
            <a:prstGeom prst="rect">
              <a:avLst/>
            </a:prstGeom>
          </p:spPr>
        </p:pic>
        <p:pic>
          <p:nvPicPr>
            <p:cNvPr id="170" name="Picture 169">
              <a:extLst>
                <a:ext uri="{FF2B5EF4-FFF2-40B4-BE49-F238E27FC236}">
                  <a16:creationId xmlns:a16="http://schemas.microsoft.com/office/drawing/2014/main" id="{FD8F87C0-4B49-F8C5-6ED3-C15DCEB26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21382" y="3498992"/>
              <a:ext cx="252000" cy="207529"/>
            </a:xfrm>
            <a:prstGeom prst="rect">
              <a:avLst/>
            </a:prstGeom>
          </p:spPr>
        </p:pic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C30C6788-CEEA-7046-D8CA-A907EF751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913759" y="3498992"/>
              <a:ext cx="252000" cy="235200"/>
            </a:xfrm>
            <a:prstGeom prst="rect">
              <a:avLst/>
            </a:prstGeom>
          </p:spPr>
        </p:pic>
        <p:pic>
          <p:nvPicPr>
            <p:cNvPr id="172" name="Picture 171">
              <a:extLst>
                <a:ext uri="{FF2B5EF4-FFF2-40B4-BE49-F238E27FC236}">
                  <a16:creationId xmlns:a16="http://schemas.microsoft.com/office/drawing/2014/main" id="{FC271FE4-E593-8757-84C8-D1F3893D8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7105075" y="3498992"/>
              <a:ext cx="252000" cy="258146"/>
            </a:xfrm>
            <a:prstGeom prst="rect">
              <a:avLst/>
            </a:prstGeom>
          </p:spPr>
        </p:pic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F7AFDA90-755B-F826-7B74-04998078BCAE}"/>
                </a:ext>
              </a:extLst>
            </p:cNvPr>
            <p:cNvCxnSpPr>
              <a:cxnSpLocks/>
              <a:stCxn id="137" idx="1"/>
              <a:endCxn id="65" idx="3"/>
            </p:cNvCxnSpPr>
            <p:nvPr/>
          </p:nvCxnSpPr>
          <p:spPr>
            <a:xfrm rot="10800000">
              <a:off x="7772400" y="4507992"/>
              <a:ext cx="1452720" cy="1292926"/>
            </a:xfrm>
            <a:prstGeom prst="bentConnector3">
              <a:avLst>
                <a:gd name="adj1" fmla="val 53456"/>
              </a:avLst>
            </a:prstGeom>
            <a:ln w="19050">
              <a:solidFill>
                <a:srgbClr val="6473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Elbow Connector 177">
              <a:extLst>
                <a:ext uri="{FF2B5EF4-FFF2-40B4-BE49-F238E27FC236}">
                  <a16:creationId xmlns:a16="http://schemas.microsoft.com/office/drawing/2014/main" id="{ECEB6E86-2208-EAC9-8B38-CEE048EB914B}"/>
                </a:ext>
              </a:extLst>
            </p:cNvPr>
            <p:cNvCxnSpPr>
              <a:cxnSpLocks/>
              <a:stCxn id="138" idx="1"/>
              <a:endCxn id="77" idx="3"/>
            </p:cNvCxnSpPr>
            <p:nvPr/>
          </p:nvCxnSpPr>
          <p:spPr>
            <a:xfrm rot="10800000">
              <a:off x="7766225" y="5248656"/>
              <a:ext cx="1487809" cy="914656"/>
            </a:xfrm>
            <a:prstGeom prst="bentConnector3">
              <a:avLst>
                <a:gd name="adj1" fmla="val 54086"/>
              </a:avLst>
            </a:prstGeom>
            <a:ln w="19050">
              <a:solidFill>
                <a:srgbClr val="6473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 94"/>
            <p:cNvSpPr/>
            <p:nvPr/>
          </p:nvSpPr>
          <p:spPr>
            <a:xfrm rot="5400000">
              <a:off x="6729714" y="4332108"/>
              <a:ext cx="2958075" cy="280976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When</a:t>
              </a:r>
              <a:r>
                <a:rPr lang="zh-TW" altLang="en-US" sz="1600" dirty="0"/>
                <a:t> </a:t>
              </a:r>
              <a:r>
                <a:rPr lang="en-US" sz="16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context</a:t>
              </a:r>
              <a:r>
                <a:rPr lang="zh-TW" altLang="en-US" sz="1600" dirty="0"/>
                <a:t> </a:t>
              </a:r>
              <a:r>
                <a:rPr lang="en-US" sz="16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window</a:t>
              </a:r>
              <a:r>
                <a:rPr lang="zh-TW" altLang="en-US" sz="1600" dirty="0"/>
                <a:t> </a:t>
              </a:r>
              <a:r>
                <a:rPr lang="en-US" sz="1600" i="1" dirty="0">
                  <a:solidFill>
                    <a:srgbClr val="64748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fills up</a:t>
              </a:r>
              <a:endParaRPr lang="en-US" sz="1600" dirty="0"/>
            </a:p>
          </p:txBody>
        </p:sp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4918E1E0-F76E-72B2-A7FC-B2E9A7B30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3374091" y="1836985"/>
              <a:ext cx="288000" cy="288000"/>
            </a:xfrm>
            <a:prstGeom prst="rect">
              <a:avLst/>
            </a:prstGeom>
          </p:spPr>
        </p:pic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FB3215E4-27D1-75B1-4F14-A6BC75943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416795" y="1836985"/>
              <a:ext cx="288000" cy="288000"/>
            </a:xfrm>
            <a:prstGeom prst="rect">
              <a:avLst/>
            </a:prstGeom>
          </p:spPr>
        </p:pic>
        <p:pic>
          <p:nvPicPr>
            <p:cNvPr id="185" name="Picture 184">
              <a:extLst>
                <a:ext uri="{FF2B5EF4-FFF2-40B4-BE49-F238E27FC236}">
                  <a16:creationId xmlns:a16="http://schemas.microsoft.com/office/drawing/2014/main" id="{E9BF4975-FBCF-7A62-807D-7F01CD51F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7329967" y="1818985"/>
              <a:ext cx="324000" cy="324000"/>
            </a:xfrm>
            <a:prstGeom prst="rect">
              <a:avLst/>
            </a:prstGeom>
          </p:spPr>
        </p:pic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B5332495-DAE2-A41E-DF6D-666D022BFC3C}"/>
                </a:ext>
              </a:extLst>
            </p:cNvPr>
            <p:cNvCxnSpPr>
              <a:cxnSpLocks/>
              <a:stCxn id="21" idx="2"/>
              <a:endCxn id="15" idx="2"/>
            </p:cNvCxnSpPr>
            <p:nvPr/>
          </p:nvCxnSpPr>
          <p:spPr>
            <a:xfrm rot="5400000">
              <a:off x="6016910" y="278473"/>
              <a:ext cx="12700" cy="3931920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64738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113</Words>
  <Application>Microsoft Macintosh PowerPoint</Application>
  <PresentationFormat>Widescreen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Helvetica Neue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運作原理</dc:title>
  <dc:subject>PptxGenJS Presentation</dc:subject>
  <dc:creator>Sam Liao</dc:creator>
  <cp:lastModifiedBy>張功逸</cp:lastModifiedBy>
  <cp:revision>18</cp:revision>
  <dcterms:created xsi:type="dcterms:W3CDTF">2026-04-27T22:04:36Z</dcterms:created>
  <dcterms:modified xsi:type="dcterms:W3CDTF">2026-05-15T21:59:30Z</dcterms:modified>
</cp:coreProperties>
</file>